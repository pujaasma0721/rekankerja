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Buka dengan sapaan singkat, lalu posisikan dokumen ini sebagai lanjutan deck produk yang sudah dilihat manajemen — sekarang kita bedah sisi dalam sistemnya.
- Tanamkan janji sejak awal: setiap klaim dalam dokumen ini punya angka uji di baliknya, tidak ada angka pemasaran.
- Meta stack di bawah cukup disebut sekilas — Next.js, TypeScript, PostgreSQL — detailnya masuk di pokok bahasan pertama.
- Arahkan perhatian ke screenshot login di kanan: produk yang sama, kali ini kita buka arsitekturnya.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Jelaskan alur sesi: lima pokok bahasan, total sekitar 15 menit — jaga tempo agar semua bagian kebagian waktu.
- Sebut bahwa sesi tanya jawab diletakkan di akhir supaya alur presentasi tidak terpotong.
- Beri benang merah: nomor 01–03 menjawab "bagaimana sistem dibangun", nomor 04–05 menjawab "seberapa baik dan ke mana arahnya".
- Kalau waktu mepet, bagian 05 paling aman dipersingkat — sisanya lebih krusial untuk keputusan manajemen.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Jelaskan alasan utama pemilihan stack: satu bahasa dari UI sampai query menghapus lapisan jembatan antar bahasa — titik kegagalan klasik di sistem enterprise.
- Sorot maintainability jangka panjang: kontrak tipe TypeScript menangkap bug saat kompilasi, bukan saat produksi jalan.
- Sebut konteks pasar kerja Indonesia: developer TypeScript dan PostgreSQL relatif mudah dicari — tidak terkunci pada talenta niche.
- Angka 200+ modul dan 222 tabel akan muncul lagi di slide arsitektur — tanam konteksnya di sini supaya terasa nyambung.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Pakai analogi gedung bertingkat: tiap tenant punya lantai sendiri yang berdiri sendiri — bukan satu ruang besar tempat semua meja dicampur.
- Kontraskan dengan pendekatan shared-table: baris semua perusahaan dicampur dibedakan kolom filter — satu query yang salah scope langsung bocor lintas perusahaan.
- Tunjuk angka 0,4 dtk: perusahaan baru median 0,4 detik ter-provision lengkap dengan DDL dan data referensi — onboarding tidak menunggu DBA.
- Tutup dengan alasan bisnis: isolasi schema membuat kepatuhan audit dan backup per tenant bisa dijalankan per perusahaan, bukan seluruh sistem sekaligus.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Ceritakan asal usulnya secara singkat: suite uji penetrasi internal ini dijalankan otomatis setiap perubahan besar — bukan satu kali lalu selesai.
- Poin paling kuat untuk disuarakan: uji IDOR memaksa query lintas schema memakai kredensial tenant lain dan hasilnya nihil — 0 baris bocor.
- Ajak audiens membayangkan uji dua browser: dua tab berdampingan, dua perusahaan login bersamaan, workspace masing-masing bersih.
- Tutup dengan artinya bagi klien enterprise: pola bukti seperti ini mempermudah audit keamanan karena bisa dijalankan ulang, bukan sekadar janji di dokumen.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Buka dengan pertanyaan: kalau flash disk berisi backup database hilang, apa yang sebenarnya bocor? Dengan enkripsi field-level, jawabannya ciphertext — bukan NIK dan gaji.
- Bedakan dengan enkripsi disk saja: disk melindungi saat server mati; field-level tetap melindungi saat backup, log, atau hasil query jatuh ke tangan yang salah.
- Kunci derivasi per-tenant membatasi skenario terburuk pada satu schema — kunci tenant A tidak bisa membaca data tenant B.
- Sebut singkat masking adaptif, ActivityLog, dan money vault: tampilan data mengikuti peran, perubahan penting berjejak siapa–apa–kapan, dan manipulasi nilai finansial langsung di database terdeteksi.
- Tutup dengan posisi kepatuhan: UU No. 27 Tahun 2022 (PDP) menuntut perlindungan terukur — slide ini jawaban teknisnya, bukan sekadar kebijakan di atas kertas.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Tegaskan di awal: 40 dari 40 uji keamanan aplikasi lulus — dijalankan otomatis terhadap sistem yang berjalan, bukan audit manual yang scenarionya bisa dipilih-pilih.
- Jelaskan bahwa gaya ujinya meniru OWASP top issues: manipulasi token, sesi, brute force, injeksi SQL, manipulasi path, mass-assignment, hingga flag cookie.
- Angka favorit untuk diceritakan: brute force 31 percobaan langsung dikunci dengan HTTP 429 dan Retry-After; mass-assignment tidak bisa menyuntik field sensitif lewat body.
- Sifat regresi: suite ini berjalan ulang setiap perubahan besar — keamanan dijaga terus-menerus, bukan hanya dicek sekali saat rilis.
- Footer adalah angka gabungan: total 66/66 — 16 isolasi tenant, 40 keamanan aplikasi, 2 cache, 8 limit &amp; kuota.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Ceritakan apa adanya: benchmark internal menemukan dinding — 89 dari 300 berarti 211 query gagal saat 100 tenant aktif serentak, batas koneksi PostgreSQL jebol.
- Framing penting: ini bukan kegagalan yang disembunyikan, tapi temuan yang diperbaiki sistemik — pool per-tenant, eviction koneksi idle, dan batas dinaikkan ke 300.
- Cara kerja singkat: tenant aktif berlangganan 2 kursi koneksi, tenant yang diam 10 menit dilepas total — kursi selalu cukup untuk yang benar-benar bekerja.
- Dibuktikan ulang pada beban identik: 200/200, nol gagal. Ini siklus temukan–perbaiki–buktikan, bukan angka marketing.
- Jika ditanya kapasitas: aman sampai sekitar ±140 tenant aktif serentak per node; di atas itu masuk roadmap PgBouncer dan sharding.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Awali dengan konteks pengukuran: tenant uji 5.000 karyawan dengan 597 ribu baris data nyata — bukan tabel demo yang kosong.
- Baca band dengan tenang: 8 ms ESS mobile per karyawan, 25 ms dashboard manajemen, 76 ms direktori halaman 1, dan 13 ms untuk rekap presensi 103 ribu baris.
- Jelaskan pola umum optimasinya: pindahkan kerja berat ke server, dekripsi cukup sekali, lalu paginasi server-side, cache agregat, dan sort dua-fase.
- Tiga angka perbaikan: payroll 5.400 ms menjadi 150 ms (36×), ukuran respons 9,1 MB menjadi 181 KB (50×), sort gaji 6.100 ms menjadi 587 ms (10×) — semua tanpa tambah hardware.
- Catatan metodologi: angka diambil dari kondisi warm yang stabil dan bisa dijalankan ulang kapan pun untuk verifikasi.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Jelaskan metodologi singkat: think-time realistis antar aksi meniru pola kerja manusia — bukan serangan sin yang tidak mencerminkan pemakaian nyata.
- Uji bertingkat 8 sampai 32 pengguna serentak di 8 endpoint termasuk halaman berat: nol error, p95 antara 817 ms sampai 2,8 detik.
- Benchmark skala: 100 schema kali 250 karyawan — total 2,5 juta baris, database sekitar 2 GB, query tenant p50 di bawah 4 ms.
- Transparansi soal angka: diukur di dev server yang konservatif — di produksi biasanya lebih cepat 30 sampai 50 persen.
- Tutup dengan keandalan operasional: watchdog memulihkan proses dalam hitungan detik, dan mode offline PWA menjaga halaman inti tetap terbuka saat koneksi putus.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Sesi singkat — fokus ke tiga kartu ini saja: asisten AI, dwibahasa, dan PWA; sisanya cukup disebut sekilas.
• Untuk asisten AI, tekankan bahwa jawaban ter-scope izin pengguna — pertanyaan sensitif tidak bocor lintas peran.
• Dwibahasa: audit otomatis menemukan 149 string nyasar dan sekarang nol — ini bukti disiplin, bukan janji.
• PWA dan kios QR paling relevan untuk karyawan lapangan yang tidak memakai PC.
• Tutup dengan API key: pencabutan berlaku seketika, jadi kontrol integrasi tetap di tangan klien.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Sizing ini berasal dari pengukuran empiris kami sendiri, bukan brosur hardware.
• Pertumbuhan data linear — sekitar 22 KB per karyawan per bulan — sehingga anggaran storage bisa dihitung, bukan dikira-kira.
• Total ±6 GB per tahun di 100 tenant berarti kapasitas 250 GB memberi ruang bertahun-tahun.
• Gzip aktif secara default — hemat bandwidth 78–95 persen pada halaman berisi.
• PM2 dan migrasi idempoten berarti restart, terencana maupun tidak, aman tanpa intervensi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Urutan fase mengikuti biaya: yang paling murah dikerjakan lebih dulu.
• Fase 01 — PgBouncer melipatgandakan tenant aktif per node tanpa membeli server baru.
• Fase 02 — sharding: saat satu mesin tak cukup, tambah node, bukan ganti sistem.
• Fase 03 — observability untuk tenant sangat besar: rekap historis kembali instan.
• Batas arsitektur saat ini sudah terukur, ±140 tenant aktif per node; tiap fase tidak menyentuh kode aplikasi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Tutup dengan ajakan konkret: jadwalkan sesi audit teknis langsung bersama tim.
• Siapkan demo live benchmark bila diminta — semuanya bisa dijalankan ulang di depan mereka.
• Ingatkan bahwa dokumen ini adalah pendamping deck produk RekanKerja — tampilkan keduanya bila perlu.
• Pesan akhir: setiap angka berasal dari sistem yang sedang berjalan, bukan klaim pemasaran.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-428625"/>
            <a:ext cx="4286250" cy="4143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0" y="-428625"/>
            <a:ext cx="4286250" cy="4143375"/>
          </a:xfrm>
          <a:prstGeom prst="roundRect">
            <a:avLst>
              <a:gd name="adj" fmla="val 2298621"/>
            </a:avLst>
          </a:prstGeom>
          <a:solidFill>
            <a:srgbClr val="34D399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750" y="3286125"/>
            <a:ext cx="3857625" cy="3857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1428750" y="3286125"/>
            <a:ext cx="3857625" cy="3857625"/>
          </a:xfrm>
          <a:prstGeom prst="roundRect">
            <a:avLst>
              <a:gd name="adj" fmla="val 2468889"/>
            </a:avLst>
          </a:prstGeom>
          <a:solidFill>
            <a:srgbClr val="34D399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14350" y="1353964"/>
            <a:ext cx="257175" cy="14288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71538" y="1302172"/>
            <a:ext cx="4029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DOKUMEN TEKNIS · UNTUK MANAJEMEN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14350" y="1591494"/>
            <a:ext cx="4824889" cy="98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89"/>
              </a:lnSpc>
              <a:buNone/>
            </a:pPr>
            <a:r>
              <a:rPr lang="en-US" sz="3263" b="1" spc="-49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Teknologi di Balik</a:t>
            </a:r>
            <a:endParaRPr lang="en-US" sz="3263" dirty="0"/>
          </a:p>
          <a:p>
            <a:pPr algn="l" indent="0" marL="0">
              <a:lnSpc>
                <a:spcPts val="3589"/>
              </a:lnSpc>
              <a:buNone/>
            </a:pPr>
            <a:r>
              <a:rPr lang="en-US" sz="3263" b="1" spc="-49" kern="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Rekan·Kerja</a:t>
            </a:r>
            <a:endParaRPr lang="en-US" sz="3263" dirty="0"/>
          </a:p>
        </p:txBody>
      </p:sp>
      <p:sp>
        <p:nvSpPr>
          <p:cNvPr id="9" name="Text 5"/>
          <p:cNvSpPr/>
          <p:nvPr/>
        </p:nvSpPr>
        <p:spPr>
          <a:xfrm>
            <a:off x="514350" y="2703016"/>
            <a:ext cx="4386263" cy="20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Arsitektur, infrastruktur, keamanan, dan keunggulan teknis.</a:t>
            </a:r>
            <a:endParaRPr lang="en-US" sz="956" dirty="0"/>
          </a:p>
        </p:txBody>
      </p:sp>
      <p:sp>
        <p:nvSpPr>
          <p:cNvPr id="10" name="Text 6"/>
          <p:cNvSpPr/>
          <p:nvPr/>
        </p:nvSpPr>
        <p:spPr>
          <a:xfrm>
            <a:off x="514350" y="2948360"/>
            <a:ext cx="3786188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Semua angka berasal dari pengujian nyata pada sistem yang berjalan — bukan klaim pemasaran.</a:t>
            </a:r>
            <a:endParaRPr lang="en-US" sz="844" dirty="0"/>
          </a:p>
        </p:txBody>
      </p:sp>
      <p:sp>
        <p:nvSpPr>
          <p:cNvPr id="11" name="Shape 7"/>
          <p:cNvSpPr/>
          <p:nvPr/>
        </p:nvSpPr>
        <p:spPr>
          <a:xfrm>
            <a:off x="514350" y="3541291"/>
            <a:ext cx="438626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4350" y="370381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3" name="Text 9"/>
          <p:cNvSpPr/>
          <p:nvPr/>
        </p:nvSpPr>
        <p:spPr>
          <a:xfrm>
            <a:off x="714375" y="3702025"/>
            <a:ext cx="14145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 + TypeScript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200387" y="370381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336" dirty="0"/>
          </a:p>
        </p:txBody>
      </p:sp>
      <p:sp>
        <p:nvSpPr>
          <p:cNvPr id="15" name="Text 11"/>
          <p:cNvSpPr/>
          <p:nvPr/>
        </p:nvSpPr>
        <p:spPr>
          <a:xfrm>
            <a:off x="2381780" y="3702025"/>
            <a:ext cx="889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PostgreSQL 17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327313" y="3703811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7" name="Text 13"/>
          <p:cNvSpPr/>
          <p:nvPr/>
        </p:nvSpPr>
        <p:spPr>
          <a:xfrm>
            <a:off x="3527338" y="3702025"/>
            <a:ext cx="9829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66/66 uji lulus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88" y="769739"/>
            <a:ext cx="4500563" cy="40005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0588" y="769739"/>
            <a:ext cx="4500563" cy="4000500"/>
          </a:xfrm>
          <a:prstGeom prst="roundRect">
            <a:avLst>
              <a:gd name="adj" fmla="val 2380714"/>
            </a:avLst>
          </a:prstGeom>
          <a:solidFill>
            <a:srgbClr val="34D399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 rot="21540000">
            <a:off x="5255687" y="1387126"/>
            <a:ext cx="3390365" cy="2369248"/>
          </a:xfrm>
          <a:prstGeom prst="roundRect">
            <a:avLst>
              <a:gd name="adj" fmla="val 482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571500" dist="228600" dir="5400000">
              <a:srgbClr val="0F172A">
                <a:alpha val="3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259382" y="1390822"/>
            <a:ext cx="3346506" cy="27262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5259382" y="1659878"/>
            <a:ext cx="334650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60626" y="1517729"/>
            <a:ext cx="65406" cy="65406"/>
          </a:xfrm>
          <a:prstGeom prst="roundRect">
            <a:avLst>
              <a:gd name="adj" fmla="val 145614279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467766" y="1515859"/>
            <a:ext cx="65406" cy="65406"/>
          </a:xfrm>
          <a:prstGeom prst="roundRect">
            <a:avLst>
              <a:gd name="adj" fmla="val 145614279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574906" y="1513989"/>
            <a:ext cx="65406" cy="65406"/>
          </a:xfrm>
          <a:prstGeom prst="roundRect">
            <a:avLst>
              <a:gd name="adj" fmla="val 14561427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/home/z/my-project/download/slides/shot-log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122" y="1605102"/>
            <a:ext cx="3379234" cy="214757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4350" y="4772025"/>
            <a:ext cx="1673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RekanKerja · Sistem HRIS Multi-tenant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46509"/>
            <a:ext cx="8521065" cy="393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Lima Pokok Bahasan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514350" y="1445716"/>
            <a:ext cx="73152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971550" y="1445716"/>
            <a:ext cx="1850153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Fondasi teknologi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71550" y="1660029"/>
            <a:ext cx="1903015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Stack modern satu bahasa end-to-end</a:t>
            </a:r>
            <a:endParaRPr lang="en-US" sz="816" dirty="0"/>
          </a:p>
        </p:txBody>
      </p:sp>
      <p:sp>
        <p:nvSpPr>
          <p:cNvPr id="7" name="Shape 5"/>
          <p:cNvSpPr/>
          <p:nvPr/>
        </p:nvSpPr>
        <p:spPr>
          <a:xfrm>
            <a:off x="514350" y="1954709"/>
            <a:ext cx="72151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2094012"/>
            <a:ext cx="73152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971550" y="2094012"/>
            <a:ext cx="2188985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Arsitektur multi-tenant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971550" y="2308324"/>
            <a:ext cx="2251527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database, isolasi penuh per perusahaan</a:t>
            </a:r>
            <a:endParaRPr lang="en-US" sz="816" dirty="0"/>
          </a:p>
        </p:txBody>
      </p:sp>
      <p:sp>
        <p:nvSpPr>
          <p:cNvPr id="11" name="Shape 9"/>
          <p:cNvSpPr/>
          <p:nvPr/>
        </p:nvSpPr>
        <p:spPr>
          <a:xfrm>
            <a:off x="514350" y="2603004"/>
            <a:ext cx="72151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2742307"/>
            <a:ext cx="73152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971550" y="2742307"/>
            <a:ext cx="1940633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Keamanan berlapis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71550" y="2956620"/>
            <a:ext cx="199608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Enkripsi, sesi, dan uji penetrasi otomatis</a:t>
            </a:r>
            <a:endParaRPr lang="en-US" sz="816" dirty="0"/>
          </a:p>
        </p:txBody>
      </p:sp>
      <p:sp>
        <p:nvSpPr>
          <p:cNvPr id="15" name="Shape 13"/>
          <p:cNvSpPr/>
          <p:nvPr/>
        </p:nvSpPr>
        <p:spPr>
          <a:xfrm>
            <a:off x="514350" y="3251299"/>
            <a:ext cx="72151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" y="3390602"/>
            <a:ext cx="73152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971550" y="3390602"/>
            <a:ext cx="1971106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Infrastruktur &amp; performa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71550" y="3604915"/>
            <a:ext cx="2027423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Pooling cerdas dan angka latensi terukur</a:t>
            </a:r>
            <a:endParaRPr lang="en-US" sz="816" dirty="0"/>
          </a:p>
        </p:txBody>
      </p:sp>
      <p:sp>
        <p:nvSpPr>
          <p:cNvPr id="19" name="Shape 17"/>
          <p:cNvSpPr/>
          <p:nvPr/>
        </p:nvSpPr>
        <p:spPr>
          <a:xfrm>
            <a:off x="514350" y="3899595"/>
            <a:ext cx="72151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" y="4038898"/>
            <a:ext cx="73152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971550" y="4038898"/>
            <a:ext cx="2487806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Keunggulan &amp; roadmap teknis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71550" y="4253210"/>
            <a:ext cx="2487806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Fitur yang membedakan dan arah pengembangan</a:t>
            </a:r>
            <a:endParaRPr lang="en-US" sz="81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1433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03647"/>
            <a:ext cx="862965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Bahasa, Ujung ke Ujung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517922" y="1143000"/>
            <a:ext cx="2621756" cy="1660029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2944" y="130373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163" y="13469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7" name="Text 5"/>
          <p:cNvSpPr/>
          <p:nvPr/>
        </p:nvSpPr>
        <p:spPr>
          <a:xfrm>
            <a:off x="692944" y="1732359"/>
            <a:ext cx="22717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 · App Router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2944" y="1960959"/>
            <a:ext cx="2271713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Rendering server-side + API route dalam satu basis kode, update halaman tanpa deploy penuh.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61122" y="1143000"/>
            <a:ext cx="2621756" cy="1660029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36144" y="130373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79363" y="13469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3436144" y="1732359"/>
            <a:ext cx="22717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TypeScript 5 · strict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36144" y="1960959"/>
            <a:ext cx="2271713" cy="348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Kontrak tipe lintas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200+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modul domain, bug tertangkap saat kompilasi.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4322" y="1143000"/>
            <a:ext cx="2621756" cy="1660029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79344" y="130373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2563" y="134695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6179344" y="1732359"/>
            <a:ext cx="22717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9344" y="1960959"/>
            <a:ext cx="2271713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Semua query terparameter: injeksi SQL terserap sejak dasar.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924473"/>
            <a:ext cx="3993356" cy="1302841"/>
          </a:xfrm>
          <a:prstGeom prst="roundRect">
            <a:avLst>
              <a:gd name="adj" fmla="val 1023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231" y="3418731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0451" y="346195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1164431" y="3315705"/>
            <a:ext cx="315753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PostgreSQL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4431" y="3530017"/>
            <a:ext cx="3157538" cy="348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Transaksi ACID, isolasi schema per tenant,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222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tabel domain per perusahaan.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2924473"/>
            <a:ext cx="3993356" cy="1302841"/>
          </a:xfrm>
          <a:prstGeom prst="roundRect">
            <a:avLst>
              <a:gd name="adj" fmla="val 1023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2031" y="3418731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5251" y="346195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5279231" y="3393951"/>
            <a:ext cx="178991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9231" y="3608263"/>
            <a:ext cx="1841052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 konsisten, responsif mobile–desktop.</a:t>
            </a:r>
            <a:endParaRPr lang="en-US" sz="759" dirty="0"/>
          </a:p>
        </p:txBody>
      </p:sp>
      <p:sp>
        <p:nvSpPr>
          <p:cNvPr id="29" name="Text 27"/>
          <p:cNvSpPr/>
          <p:nvPr/>
        </p:nvSpPr>
        <p:spPr>
          <a:xfrm>
            <a:off x="517922" y="4377333"/>
            <a:ext cx="8108156" cy="362545"/>
          </a:xfrm>
          <a:prstGeom prst="roundRect">
            <a:avLst>
              <a:gd name="adj" fmla="val 31527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8656" y="44871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907256" y="4480917"/>
            <a:ext cx="75580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Dari layar sampai query database semuanya TypeScript — tidak ada lapisan jembatan yang rapuh antar bahasa.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1433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03647"/>
            <a:ext cx="862965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Database, Isolasi Penuh per Perusahaan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514350" y="1353741"/>
            <a:ext cx="3909060" cy="43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38" b="1" spc="-3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222</a:t>
            </a:r>
            <a:endParaRPr lang="en-US" sz="3038" dirty="0"/>
          </a:p>
        </p:txBody>
      </p:sp>
      <p:sp>
        <p:nvSpPr>
          <p:cNvPr id="5" name="Text 3"/>
          <p:cNvSpPr/>
          <p:nvPr/>
        </p:nvSpPr>
        <p:spPr>
          <a:xfrm>
            <a:off x="514350" y="1830139"/>
            <a:ext cx="2565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tabel domain per tenant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18259" y="1353741"/>
            <a:ext cx="0" cy="62641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9006" y="1353741"/>
            <a:ext cx="2443163" cy="43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38" b="1" spc="-3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3038" dirty="0"/>
          </a:p>
        </p:txBody>
      </p:sp>
      <p:sp>
        <p:nvSpPr>
          <p:cNvPr id="8" name="Text 6"/>
          <p:cNvSpPr/>
          <p:nvPr/>
        </p:nvSpPr>
        <p:spPr>
          <a:xfrm>
            <a:off x="3479006" y="1830139"/>
            <a:ext cx="255289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 PostgreSQL khusus per perusahaan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25741" y="1353741"/>
            <a:ext cx="0" cy="62641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6488" y="1353741"/>
            <a:ext cx="2443163" cy="43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38" b="1" spc="-3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0,4 dtk</a:t>
            </a:r>
            <a:endParaRPr lang="en-US" sz="3038" dirty="0"/>
          </a:p>
        </p:txBody>
      </p:sp>
      <p:sp>
        <p:nvSpPr>
          <p:cNvPr id="11" name="Text 9"/>
          <p:cNvSpPr/>
          <p:nvPr/>
        </p:nvSpPr>
        <p:spPr>
          <a:xfrm>
            <a:off x="6186488" y="1830139"/>
            <a:ext cx="25528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median provisioning tenant baru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7922" y="2737954"/>
            <a:ext cx="1935956" cy="1419039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8656" y="2898688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1876" y="294190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678656" y="3327313"/>
            <a:ext cx="161448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 terisolasi</a:t>
            </a:r>
            <a:endParaRPr lang="en-US" sz="872" dirty="0"/>
          </a:p>
        </p:txBody>
      </p:sp>
      <p:sp>
        <p:nvSpPr>
          <p:cNvPr id="16" name="Text 14"/>
          <p:cNvSpPr/>
          <p:nvPr/>
        </p:nvSpPr>
        <p:spPr>
          <a:xfrm>
            <a:off x="678656" y="3550555"/>
            <a:ext cx="1614488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tiap perusahaan hidup di schema database terpisah, bukan sekadar kolom filter.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75322" y="2737954"/>
            <a:ext cx="1935956" cy="1419039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36056" y="2898688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79276" y="294190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2736056" y="3327313"/>
            <a:ext cx="161448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Registry platform</a:t>
            </a:r>
            <a:endParaRPr lang="en-US" sz="872" dirty="0"/>
          </a:p>
        </p:txBody>
      </p:sp>
      <p:sp>
        <p:nvSpPr>
          <p:cNvPr id="21" name="Text 19"/>
          <p:cNvSpPr/>
          <p:nvPr/>
        </p:nvSpPr>
        <p:spPr>
          <a:xfrm>
            <a:off x="2736056" y="3550555"/>
            <a:ext cx="1614488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Daftar tenant + user + keanggotaan di schema publik terpisah dari data domain.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2737954"/>
            <a:ext cx="1935956" cy="1419039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3456" y="2898688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6676" y="294190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25" name="Text 23"/>
          <p:cNvSpPr/>
          <p:nvPr/>
        </p:nvSpPr>
        <p:spPr>
          <a:xfrm>
            <a:off x="4793456" y="3327313"/>
            <a:ext cx="1614488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Provisioning otomatis</a:t>
            </a:r>
            <a:endParaRPr lang="en-US" sz="872" dirty="0"/>
          </a:p>
        </p:txBody>
      </p:sp>
      <p:sp>
        <p:nvSpPr>
          <p:cNvPr id="26" name="Text 24"/>
          <p:cNvSpPr/>
          <p:nvPr/>
        </p:nvSpPr>
        <p:spPr>
          <a:xfrm>
            <a:off x="4793456" y="3550555"/>
            <a:ext cx="161448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Perusahaan baru dibuat lengkap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DDL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data referensi dalam satu langkah.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0122" y="2737954"/>
            <a:ext cx="1935956" cy="1419039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0856" y="2898688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94076" y="294190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6850856" y="3327313"/>
            <a:ext cx="161448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Multi-company</a:t>
            </a:r>
            <a:endParaRPr lang="en-US" sz="872" dirty="0"/>
          </a:p>
        </p:txBody>
      </p:sp>
      <p:sp>
        <p:nvSpPr>
          <p:cNvPr id="31" name="Text 29"/>
          <p:cNvSpPr/>
          <p:nvPr/>
        </p:nvSpPr>
        <p:spPr>
          <a:xfrm>
            <a:off x="6850856" y="3550555"/>
            <a:ext cx="1614488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login bisa memegang beberapa perusahaan, konteks berganti penuh saat switch.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14338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02 · BUKTI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03647"/>
            <a:ext cx="862965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b="1" spc="-1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Isolasi yang Bisa Dibuktikan, Bukan Dijanjikan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514350" y="186853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5" name="Text 3"/>
          <p:cNvSpPr/>
          <p:nvPr/>
        </p:nvSpPr>
        <p:spPr>
          <a:xfrm>
            <a:off x="785813" y="1861393"/>
            <a:ext cx="4071844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Koneksi terpisah per schema</a:t>
            </a:r>
            <a:endParaRPr lang="en-US" sz="928" dirty="0"/>
          </a:p>
        </p:txBody>
      </p:sp>
      <p:sp>
        <p:nvSpPr>
          <p:cNvPr id="6" name="Text 4"/>
          <p:cNvSpPr/>
          <p:nvPr/>
        </p:nvSpPr>
        <p:spPr>
          <a:xfrm>
            <a:off x="785813" y="2050256"/>
            <a:ext cx="3770226" cy="348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permintaan dilayani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PrismaClient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milik tenant itu sendiri, bukan koneksi bersama.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14350" y="2467049"/>
            <a:ext cx="4041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258492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785813" y="2577778"/>
            <a:ext cx="3884749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IDOR lintas tenant: </a:t>
            </a:r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baris bocor</a:t>
            </a:r>
            <a:endParaRPr lang="en-US" sz="928" dirty="0"/>
          </a:p>
        </p:txBody>
      </p:sp>
      <p:sp>
        <p:nvSpPr>
          <p:cNvPr id="10" name="Text 8"/>
          <p:cNvSpPr/>
          <p:nvPr/>
        </p:nvSpPr>
        <p:spPr>
          <a:xfrm>
            <a:off x="785813" y="2766640"/>
            <a:ext cx="3596990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Uji otomatis memaksa query lintas schema dengan kredensial tenant lain, hasil nihil.</a:t>
            </a:r>
            <a:endParaRPr lang="en-US" sz="759" dirty="0"/>
          </a:p>
        </p:txBody>
      </p:sp>
      <p:sp>
        <p:nvSpPr>
          <p:cNvPr id="11" name="Shape 9"/>
          <p:cNvSpPr/>
          <p:nvPr/>
        </p:nvSpPr>
        <p:spPr>
          <a:xfrm>
            <a:off x="514350" y="3026829"/>
            <a:ext cx="4041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314470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3" name="Text 11"/>
          <p:cNvSpPr/>
          <p:nvPr/>
        </p:nvSpPr>
        <p:spPr>
          <a:xfrm>
            <a:off x="785813" y="3137557"/>
            <a:ext cx="3346490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Host subdomain terikat tenant</a:t>
            </a:r>
            <a:endParaRPr lang="en-US" sz="928" dirty="0"/>
          </a:p>
        </p:txBody>
      </p:sp>
      <p:sp>
        <p:nvSpPr>
          <p:cNvPr id="14" name="Text 12"/>
          <p:cNvSpPr/>
          <p:nvPr/>
        </p:nvSpPr>
        <p:spPr>
          <a:xfrm>
            <a:off x="785813" y="3326420"/>
            <a:ext cx="3098602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Sesi dari subdomain perusahaan lain ditolak meski kredensialnya cocok.</a:t>
            </a:r>
            <a:endParaRPr lang="en-US" sz="759" dirty="0"/>
          </a:p>
        </p:txBody>
      </p:sp>
      <p:sp>
        <p:nvSpPr>
          <p:cNvPr id="15" name="Shape 13"/>
          <p:cNvSpPr/>
          <p:nvPr/>
        </p:nvSpPr>
        <p:spPr>
          <a:xfrm>
            <a:off x="514350" y="3586609"/>
            <a:ext cx="4041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" y="37044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785813" y="3697337"/>
            <a:ext cx="3908377" cy="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Verifikasi dua browser paralel</a:t>
            </a:r>
            <a:endParaRPr lang="en-US" sz="928" dirty="0"/>
          </a:p>
        </p:txBody>
      </p:sp>
      <p:sp>
        <p:nvSpPr>
          <p:cNvPr id="18" name="Text 16"/>
          <p:cNvSpPr/>
          <p:nvPr/>
        </p:nvSpPr>
        <p:spPr>
          <a:xfrm>
            <a:off x="785813" y="3886200"/>
            <a:ext cx="3618867" cy="170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759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dua tenant berdampingan, workspace masing-masing bersih tanpa kebocoran.</a:t>
            </a:r>
            <a:endParaRPr lang="en-US" sz="759" dirty="0"/>
          </a:p>
        </p:txBody>
      </p:sp>
      <p:sp>
        <p:nvSpPr>
          <p:cNvPr id="19" name="Text 17"/>
          <p:cNvSpPr/>
          <p:nvPr/>
        </p:nvSpPr>
        <p:spPr>
          <a:xfrm>
            <a:off x="4902510" y="1564370"/>
            <a:ext cx="3723568" cy="2544180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571500" dist="228600" dir="5400000">
              <a:srgbClr val="0F172A">
                <a:alpha val="3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06082" y="1567942"/>
            <a:ext cx="3716424" cy="214313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906082" y="1778682"/>
            <a:ext cx="371642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6094" y="1639379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13251" y="1639379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20407" y="1639379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0" descr="/tmp/h2p-fit-1793056362711-n8p92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6082" y="1782254"/>
            <a:ext cx="3716424" cy="232272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898938" y="4197846"/>
            <a:ext cx="373071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per-company — angka ter-scope ke perusahaan aktif, bukan seluruh tenant.</a:t>
            </a:r>
            <a:endParaRPr lang="en-US" sz="70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Pribadi Terenkripsi Sejak di Dalam Database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32197" y="1046113"/>
            <a:ext cx="2678906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2931" y="1206847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6151" y="125006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7" name="Text 5"/>
          <p:cNvSpPr/>
          <p:nvPr/>
        </p:nvSpPr>
        <p:spPr>
          <a:xfrm>
            <a:off x="592931" y="1614041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AES-256-GCM</a:t>
            </a:r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field-level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2931" y="1811164"/>
            <a:ext cx="235743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NIK, NPWP, dan gaji disimpan dalam bentuk terenkripsi, bukan teks polos.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32547" y="1046113"/>
            <a:ext cx="2678906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93281" y="1206847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6501" y="125006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3393281" y="1614041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Kunci per-tenant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93281" y="1811164"/>
            <a:ext cx="235743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Kunci derivasi unik per schema perusahaan: data satu tenant tak bisa dibaca dengan kunci tenant lain.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2897" y="1046113"/>
            <a:ext cx="2678906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93631" y="1206847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36851" y="125006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6193631" y="1614041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Masking adaptif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93631" y="1811164"/>
            <a:ext cx="235743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NIK/NPWP tampil penuh hanya untuk peran yang berwenang, lainnya tersamar sebagian.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2197" y="2653680"/>
            <a:ext cx="2678906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2931" y="281441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6151" y="285763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592931" y="3221608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trail ActivityLog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2931" y="3418731"/>
            <a:ext cx="235743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perubahan data penting tercatat: siapa, apa, kapan.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32547" y="2653680"/>
            <a:ext cx="2678906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93281" y="281441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36501" y="285763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3393281" y="3221608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Money vault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93281" y="3418731"/>
            <a:ext cx="2357438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Nilai finansial punya verifier tambahan untuk mendeteksi manipulasi langsung di database.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2897" y="2653680"/>
            <a:ext cx="2678906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3631" y="281441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36851" y="285763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6193631" y="3221608"/>
            <a:ext cx="235743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eSign terkunci konteks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3631" y="3418731"/>
            <a:ext cx="2357438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Tanda tangan elektronik terikat dokumen + penandanya.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428625" y="4314825"/>
            <a:ext cx="8286750" cy="457200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0075" y="4468416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477" dirty="0"/>
          </a:p>
        </p:txBody>
      </p:sp>
      <p:sp>
        <p:nvSpPr>
          <p:cNvPr id="36" name="Text 34"/>
          <p:cNvSpPr/>
          <p:nvPr/>
        </p:nvSpPr>
        <p:spPr>
          <a:xfrm>
            <a:off x="850106" y="4468416"/>
            <a:ext cx="76938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Sesuai amanat </a:t>
            </a:r>
            <a:pPr algn="l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UU No. </a:t>
            </a:r>
            <a:pPr algn="l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</a:t>
            </a:r>
            <a:pPr algn="l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Tahun </a:t>
            </a:r>
            <a:pPr algn="l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pPr algn="l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tentang Pelindungan Data Pribadi</a:t>
            </a:r>
            <a:pPr algn="l" indent="0" marL="0">
              <a:lnSpc>
                <a:spcPts val="1181"/>
              </a:lnSpc>
              <a:buNone/>
            </a:pPr>
            <a:r>
              <a:rPr lang="en-US" sz="800" i="1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data pribadi diolah dengan perlindungan yang terukur.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5596191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03 · BUKTI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4846499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dari 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</a:t>
            </a:r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Uji Keamanan Aplikasi Lulus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6357580" y="400050"/>
            <a:ext cx="2357795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375"/>
              </a:lnSpc>
              <a:buNone/>
            </a:pPr>
            <a:r>
              <a:rPr lang="en-US" sz="3375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</a:t>
            </a:r>
            <a:pPr algn="r" indent="0" marL="0">
              <a:lnSpc>
                <a:spcPts val="3375"/>
              </a:lnSpc>
              <a:buNone/>
            </a:pPr>
            <a:r>
              <a:rPr lang="en-US" sz="3375" b="1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/40</a:t>
            </a:r>
            <a:endParaRPr lang="en-US" sz="3375" dirty="0"/>
          </a:p>
        </p:txBody>
      </p:sp>
      <p:sp>
        <p:nvSpPr>
          <p:cNvPr id="5" name="Text 3"/>
          <p:cNvSpPr/>
          <p:nvPr/>
        </p:nvSpPr>
        <p:spPr>
          <a:xfrm>
            <a:off x="7241753" y="90547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" name="Text 4"/>
          <p:cNvSpPr/>
          <p:nvPr/>
        </p:nvSpPr>
        <p:spPr>
          <a:xfrm>
            <a:off x="6959368" y="900113"/>
            <a:ext cx="1756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UJI KEAMANAN APLIKASI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2197" y="1178719"/>
            <a:ext cx="8279606" cy="3018234"/>
          </a:xfrm>
          <a:prstGeom prst="roundRect">
            <a:avLst>
              <a:gd name="adj" fmla="val 441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355973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9" name="Text 7"/>
          <p:cNvSpPr/>
          <p:nvPr/>
        </p:nvSpPr>
        <p:spPr>
          <a:xfrm>
            <a:off x="900113" y="1358652"/>
            <a:ext cx="30861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palsu, dimanipulasi, kedaluwarsa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3857625" y="1350615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4064794" y="1358540"/>
            <a:ext cx="4429125" cy="15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ditolak </a:t>
            </a:r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401</a:t>
            </a:r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 semua gerbang</a:t>
            </a:r>
            <a:endParaRPr lang="en-US" sz="816" dirty="0"/>
          </a:p>
        </p:txBody>
      </p:sp>
      <p:sp>
        <p:nvSpPr>
          <p:cNvPr id="12" name="Shape 10"/>
          <p:cNvSpPr/>
          <p:nvPr/>
        </p:nvSpPr>
        <p:spPr>
          <a:xfrm>
            <a:off x="650081" y="1640495"/>
            <a:ext cx="7843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081" y="1774887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4" name="Text 12"/>
          <p:cNvSpPr/>
          <p:nvPr/>
        </p:nvSpPr>
        <p:spPr>
          <a:xfrm>
            <a:off x="900113" y="1777566"/>
            <a:ext cx="357187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Logout mencabut sesi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3857625" y="1769529"/>
            <a:ext cx="16930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4064794" y="1777454"/>
            <a:ext cx="4429125" cy="15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lama tak bisa dipakai ulang</a:t>
            </a:r>
            <a:endParaRPr lang="en-US" sz="816" dirty="0"/>
          </a:p>
        </p:txBody>
      </p:sp>
      <p:sp>
        <p:nvSpPr>
          <p:cNvPr id="17" name="Shape 15"/>
          <p:cNvSpPr/>
          <p:nvPr/>
        </p:nvSpPr>
        <p:spPr>
          <a:xfrm>
            <a:off x="650081" y="2059409"/>
            <a:ext cx="7843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081" y="219380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19" name="Text 17"/>
          <p:cNvSpPr/>
          <p:nvPr/>
        </p:nvSpPr>
        <p:spPr>
          <a:xfrm>
            <a:off x="900113" y="2196480"/>
            <a:ext cx="357187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Brute force 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percobaan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3857625" y="2188443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064794" y="2196368"/>
            <a:ext cx="4429125" cy="15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terkunci + HTTP </a:t>
            </a:r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429</a:t>
            </a:r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dengan Retry-After</a:t>
            </a:r>
            <a:endParaRPr lang="en-US" sz="816" dirty="0"/>
          </a:p>
        </p:txBody>
      </p:sp>
      <p:sp>
        <p:nvSpPr>
          <p:cNvPr id="22" name="Shape 20"/>
          <p:cNvSpPr/>
          <p:nvPr/>
        </p:nvSpPr>
        <p:spPr>
          <a:xfrm>
            <a:off x="650081" y="2478323"/>
            <a:ext cx="7843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081" y="2612715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4" name="Text 22"/>
          <p:cNvSpPr/>
          <p:nvPr/>
        </p:nvSpPr>
        <p:spPr>
          <a:xfrm>
            <a:off x="900113" y="2615394"/>
            <a:ext cx="357187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Injeksi SQL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3857625" y="2607357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4064794" y="2615282"/>
            <a:ext cx="4429125" cy="15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terserap parameterized query Prisma, </a:t>
            </a:r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tembus</a:t>
            </a:r>
            <a:endParaRPr lang="en-US" sz="816" dirty="0"/>
          </a:p>
        </p:txBody>
      </p:sp>
      <p:sp>
        <p:nvSpPr>
          <p:cNvPr id="27" name="Shape 25"/>
          <p:cNvSpPr/>
          <p:nvPr/>
        </p:nvSpPr>
        <p:spPr>
          <a:xfrm>
            <a:off x="650081" y="2897237"/>
            <a:ext cx="7843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081" y="303162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29" name="Text 27"/>
          <p:cNvSpPr/>
          <p:nvPr/>
        </p:nvSpPr>
        <p:spPr>
          <a:xfrm>
            <a:off x="900113" y="3034308"/>
            <a:ext cx="30861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variasi manipulasi path URL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3857625" y="3026271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4064794" y="3034196"/>
            <a:ext cx="4429125" cy="15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bypass middleware</a:t>
            </a:r>
            <a:endParaRPr lang="en-US" sz="816" dirty="0"/>
          </a:p>
        </p:txBody>
      </p:sp>
      <p:sp>
        <p:nvSpPr>
          <p:cNvPr id="32" name="Shape 30"/>
          <p:cNvSpPr/>
          <p:nvPr/>
        </p:nvSpPr>
        <p:spPr>
          <a:xfrm>
            <a:off x="650081" y="3316151"/>
            <a:ext cx="7843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0081" y="3450543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34" name="Text 32"/>
          <p:cNvSpPr/>
          <p:nvPr/>
        </p:nvSpPr>
        <p:spPr>
          <a:xfrm>
            <a:off x="900113" y="3453222"/>
            <a:ext cx="357187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Mass-assignment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3857625" y="3445185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4064794" y="3453110"/>
            <a:ext cx="4429125" cy="15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 sensitif tak bisa disuntik lewat body</a:t>
            </a:r>
            <a:endParaRPr lang="en-US" sz="816" dirty="0"/>
          </a:p>
        </p:txBody>
      </p:sp>
      <p:sp>
        <p:nvSpPr>
          <p:cNvPr id="37" name="Shape 35"/>
          <p:cNvSpPr/>
          <p:nvPr/>
        </p:nvSpPr>
        <p:spPr>
          <a:xfrm>
            <a:off x="650081" y="3735065"/>
            <a:ext cx="78438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081" y="3869457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39" name="Text 37"/>
          <p:cNvSpPr/>
          <p:nvPr/>
        </p:nvSpPr>
        <p:spPr>
          <a:xfrm>
            <a:off x="900113" y="3872136"/>
            <a:ext cx="30861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Cookie sesi HttpOnly + SameSite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3857625" y="3864099"/>
            <a:ext cx="16930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4064794" y="3872024"/>
            <a:ext cx="4429125" cy="15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 terbaca JavaScript browser</a:t>
            </a:r>
            <a:endParaRPr lang="en-US" sz="816" dirty="0"/>
          </a:p>
        </p:txBody>
      </p:sp>
      <p:sp>
        <p:nvSpPr>
          <p:cNvPr id="42" name="Text 40"/>
          <p:cNvSpPr/>
          <p:nvPr/>
        </p:nvSpPr>
        <p:spPr>
          <a:xfrm>
            <a:off x="432197" y="4346972"/>
            <a:ext cx="8279606" cy="421481"/>
          </a:xfrm>
          <a:prstGeom prst="roundRect">
            <a:avLst>
              <a:gd name="adj" fmla="val 27119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2931" y="4482703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77" dirty="0"/>
          </a:p>
        </p:txBody>
      </p:sp>
      <p:sp>
        <p:nvSpPr>
          <p:cNvPr id="44" name="Text 42"/>
          <p:cNvSpPr/>
          <p:nvPr/>
        </p:nvSpPr>
        <p:spPr>
          <a:xfrm>
            <a:off x="828675" y="4482703"/>
            <a:ext cx="7722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66/66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uji otomatis lulus —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isolasi tenant,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keamanan aplikasi,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cache,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limit &amp; kuota.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Koneksi yang Belajar dari Kegagalan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32197" y="1046113"/>
            <a:ext cx="3864769" cy="2136428"/>
          </a:xfrm>
          <a:prstGeom prst="roundRect">
            <a:avLst>
              <a:gd name="adj" fmla="val 6242"/>
            </a:avLst>
          </a:prstGeom>
          <a:solidFill>
            <a:srgbClr val="FEF3C7"/>
          </a:solidFill>
          <a:ln w="7144">
            <a:solidFill>
              <a:srgbClr val="D9770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0081" y="153434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B4530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055" dirty="0"/>
          </a:p>
        </p:txBody>
      </p:sp>
      <p:sp>
        <p:nvSpPr>
          <p:cNvPr id="6" name="Text 4"/>
          <p:cNvSpPr/>
          <p:nvPr/>
        </p:nvSpPr>
        <p:spPr>
          <a:xfrm>
            <a:off x="807244" y="1528986"/>
            <a:ext cx="3271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SEBELUM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0081" y="1775445"/>
            <a:ext cx="3429000" cy="52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825" b="1" dirty="0">
                <a:solidFill>
                  <a:srgbClr val="B4530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89/300</a:t>
            </a:r>
            <a:endParaRPr lang="en-US" sz="3825" dirty="0"/>
          </a:p>
        </p:txBody>
      </p:sp>
      <p:sp>
        <p:nvSpPr>
          <p:cNvPr id="8" name="Text 6"/>
          <p:cNvSpPr/>
          <p:nvPr/>
        </p:nvSpPr>
        <p:spPr>
          <a:xfrm>
            <a:off x="650081" y="2389808"/>
            <a:ext cx="3429000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211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query gagal saat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tenant aktif serentak — batas koneksi PostgreSQL jebol.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2691" y="1925017"/>
            <a:ext cx="378619" cy="378619"/>
          </a:xfrm>
          <a:prstGeom prst="roundRect">
            <a:avLst>
              <a:gd name="adj" fmla="val 25154700"/>
            </a:avLst>
          </a:prstGeom>
          <a:solidFill>
            <a:srgbClr val="FFFFFF"/>
          </a:solidFill>
          <a:ln w="7144">
            <a:solidFill>
              <a:srgbClr val="059669"/>
            </a:solidFill>
            <a:prstDash val="solid"/>
          </a:ln>
          <a:effectLst>
            <a:outerShdw sx="100000" sy="100000" kx="0" ky="0" algn="bl" rotWithShape="0" blurRad="266700" dist="133350" dir="5400000">
              <a:srgbClr val="059669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37340" y="197966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11" name="Text 9"/>
          <p:cNvSpPr/>
          <p:nvPr/>
        </p:nvSpPr>
        <p:spPr>
          <a:xfrm>
            <a:off x="4847034" y="1046113"/>
            <a:ext cx="3864769" cy="2136428"/>
          </a:xfrm>
          <a:prstGeom prst="roundRect">
            <a:avLst>
              <a:gd name="adj" fmla="val 6242"/>
            </a:avLst>
          </a:prstGeom>
          <a:solidFill>
            <a:srgbClr val="ECFDF5"/>
          </a:solidFill>
          <a:ln w="7144">
            <a:solidFill>
              <a:srgbClr val="05966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64919" y="161180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13" name="Text 11"/>
          <p:cNvSpPr/>
          <p:nvPr/>
        </p:nvSpPr>
        <p:spPr>
          <a:xfrm>
            <a:off x="5222081" y="1606451"/>
            <a:ext cx="3271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SESUDAH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64919" y="1852910"/>
            <a:ext cx="3429000" cy="52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825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200/200</a:t>
            </a:r>
            <a:endParaRPr lang="en-US" sz="3825" dirty="0"/>
          </a:p>
        </p:txBody>
      </p:sp>
      <p:sp>
        <p:nvSpPr>
          <p:cNvPr id="15" name="Text 13"/>
          <p:cNvSpPr/>
          <p:nvPr/>
        </p:nvSpPr>
        <p:spPr>
          <a:xfrm>
            <a:off x="5064919" y="2467273"/>
            <a:ext cx="34290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Nol gagal pada beban identik setelah pool per-tenant + eviction.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32197" y="3361134"/>
            <a:ext cx="1978819" cy="1407319"/>
          </a:xfrm>
          <a:prstGeom prst="roundRect">
            <a:avLst>
              <a:gd name="adj" fmla="val 947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8644" y="3507581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863" y="35508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78644" y="3907631"/>
            <a:ext cx="1787081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Pool 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koneksi per tenant aktif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578644" y="4100513"/>
            <a:ext cx="1787081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Langganan, bukan rebutan.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2459" y="3361134"/>
            <a:ext cx="1978819" cy="1407319"/>
          </a:xfrm>
          <a:prstGeom prst="roundRect">
            <a:avLst>
              <a:gd name="adj" fmla="val 947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8906" y="3507581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22126" y="35508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2678906" y="3907631"/>
            <a:ext cx="1685925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Idle 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menit 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koneksi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2678906" y="4100513"/>
            <a:ext cx="178708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Tenant tidak dipakai tak memakan kursi.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4632722" y="3361134"/>
            <a:ext cx="1978819" cy="1407319"/>
          </a:xfrm>
          <a:prstGeom prst="roundRect">
            <a:avLst>
              <a:gd name="adj" fmla="val 947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9169" y="3507581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2388" y="35508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4779169" y="3907631"/>
            <a:ext cx="1685925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Batas 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koneksi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4779169" y="4100513"/>
            <a:ext cx="1685925" cy="35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Naik dari default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dipantau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pg_stat_activity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32984" y="3361134"/>
            <a:ext cx="1978819" cy="1407319"/>
          </a:xfrm>
          <a:prstGeom prst="roundRect">
            <a:avLst>
              <a:gd name="adj" fmla="val 9475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79431" y="3507581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22651" y="35508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6879431" y="3907631"/>
            <a:ext cx="1685925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±140</a:t>
            </a:r>
            <a:pPr algn="l" indent="0" marL="0">
              <a:lnSpc>
                <a:spcPts val="1181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tenant aktif serentak per node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6879431" y="4250531"/>
            <a:ext cx="1685925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 atas itu: PgBouncer + sharding (roadmap).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Cepat pada Data Besar, Bukan Hanya Data Kecil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28625" y="928241"/>
            <a:ext cx="828675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Diukur pada tenant uji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5.000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karyawan —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597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ribu baris data nyata.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28625" y="1501415"/>
            <a:ext cx="2979801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3038"/>
              </a:lnSpc>
              <a:buNone/>
            </a:pPr>
            <a:r>
              <a:rPr lang="en-US" sz="1238" b="1" spc="-61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3038" dirty="0"/>
          </a:p>
        </p:txBody>
      </p:sp>
      <p:sp>
        <p:nvSpPr>
          <p:cNvPr id="6" name="Text 4"/>
          <p:cNvSpPr/>
          <p:nvPr/>
        </p:nvSpPr>
        <p:spPr>
          <a:xfrm>
            <a:off x="428625" y="1972903"/>
            <a:ext cx="1980248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ESS mobile per karyawan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03884" y="1501415"/>
            <a:ext cx="0" cy="60610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3194" y="1501415"/>
            <a:ext cx="1693069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pPr algn="l" indent="0" marL="0">
              <a:lnSpc>
                <a:spcPts val="3038"/>
              </a:lnSpc>
              <a:buNone/>
            </a:pPr>
            <a:r>
              <a:rPr lang="en-US" sz="1238" b="1" spc="-61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3038" dirty="0"/>
          </a:p>
        </p:txBody>
      </p:sp>
      <p:sp>
        <p:nvSpPr>
          <p:cNvPr id="9" name="Text 7"/>
          <p:cNvSpPr/>
          <p:nvPr/>
        </p:nvSpPr>
        <p:spPr>
          <a:xfrm>
            <a:off x="2693194" y="1972903"/>
            <a:ext cx="1693069" cy="134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manajemen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5572" y="1501415"/>
            <a:ext cx="0" cy="60610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881" y="1501415"/>
            <a:ext cx="1693069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76</a:t>
            </a:r>
            <a:pPr algn="l" indent="0" marL="0">
              <a:lnSpc>
                <a:spcPts val="3038"/>
              </a:lnSpc>
              <a:buNone/>
            </a:pPr>
            <a:r>
              <a:rPr lang="en-US" sz="1238" b="1" spc="-61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3038" dirty="0"/>
          </a:p>
        </p:txBody>
      </p:sp>
      <p:sp>
        <p:nvSpPr>
          <p:cNvPr id="12" name="Text 10"/>
          <p:cNvSpPr/>
          <p:nvPr/>
        </p:nvSpPr>
        <p:spPr>
          <a:xfrm>
            <a:off x="4764881" y="1972903"/>
            <a:ext cx="1794653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Direktori karyawan halaman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47259" y="1501415"/>
            <a:ext cx="0" cy="60610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6569" y="1501415"/>
            <a:ext cx="1878806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61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pPr algn="l" indent="0" marL="0">
              <a:lnSpc>
                <a:spcPts val="3038"/>
              </a:lnSpc>
              <a:buNone/>
            </a:pPr>
            <a:r>
              <a:rPr lang="en-US" sz="1238" b="1" spc="-61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3038" dirty="0"/>
          </a:p>
        </p:txBody>
      </p:sp>
      <p:sp>
        <p:nvSpPr>
          <p:cNvPr id="15" name="Text 13"/>
          <p:cNvSpPr/>
          <p:nvPr/>
        </p:nvSpPr>
        <p:spPr>
          <a:xfrm>
            <a:off x="6836569" y="1972903"/>
            <a:ext cx="1988534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Rekap presensi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103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rb baris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8625" y="2364693"/>
            <a:ext cx="15596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PERBAIKAN TERUKUR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26877" y="2423629"/>
            <a:ext cx="708849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2197" y="2600437"/>
            <a:ext cx="8279606" cy="435769"/>
          </a:xfrm>
          <a:prstGeom prst="roundRect">
            <a:avLst>
              <a:gd name="adj" fmla="val 3060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7219" y="2737954"/>
            <a:ext cx="24534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Detail payroll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5.000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baris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3007519" y="2716523"/>
            <a:ext cx="511280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5.400 ms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150 ms</a:t>
            </a:r>
            <a:endParaRPr lang="en-US" sz="1069" dirty="0"/>
          </a:p>
        </p:txBody>
      </p:sp>
      <p:sp>
        <p:nvSpPr>
          <p:cNvPr id="21" name="Text 19"/>
          <p:cNvSpPr/>
          <p:nvPr/>
        </p:nvSpPr>
        <p:spPr>
          <a:xfrm>
            <a:off x="8170530" y="2694791"/>
            <a:ext cx="380338" cy="247059"/>
          </a:xfrm>
          <a:prstGeom prst="roundRect">
            <a:avLst>
              <a:gd name="adj" fmla="val 3084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84617" y="2707593"/>
            <a:ext cx="352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2197" y="3129074"/>
            <a:ext cx="8279606" cy="435769"/>
          </a:xfrm>
          <a:prstGeom prst="roundRect">
            <a:avLst>
              <a:gd name="adj" fmla="val 3060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7219" y="3266591"/>
            <a:ext cx="283964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Ukuran respons payroll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3007519" y="3245160"/>
            <a:ext cx="511280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9,1 MB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181 KB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8170530" y="3223429"/>
            <a:ext cx="380338" cy="247059"/>
          </a:xfrm>
          <a:prstGeom prst="roundRect">
            <a:avLst>
              <a:gd name="adj" fmla="val 3084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184617" y="3236230"/>
            <a:ext cx="352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50×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2197" y="3657712"/>
            <a:ext cx="8279606" cy="435769"/>
          </a:xfrm>
          <a:prstGeom prst="roundRect">
            <a:avLst>
              <a:gd name="adj" fmla="val 3060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7219" y="3795229"/>
            <a:ext cx="24534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Sortir direktori berdasar gaji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3007519" y="3773798"/>
            <a:ext cx="511280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6.100 ms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587 ms</a:t>
            </a:r>
            <a:endParaRPr lang="en-US" sz="1069" dirty="0"/>
          </a:p>
        </p:txBody>
      </p:sp>
      <p:sp>
        <p:nvSpPr>
          <p:cNvPr id="31" name="Text 29"/>
          <p:cNvSpPr/>
          <p:nvPr/>
        </p:nvSpPr>
        <p:spPr>
          <a:xfrm>
            <a:off x="8170530" y="3752066"/>
            <a:ext cx="380338" cy="247059"/>
          </a:xfrm>
          <a:prstGeom prst="roundRect">
            <a:avLst>
              <a:gd name="adj" fmla="val 3084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84617" y="3764868"/>
            <a:ext cx="3521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10×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8625" y="4260466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95" dirty="0"/>
          </a:p>
        </p:txBody>
      </p:sp>
      <p:sp>
        <p:nvSpPr>
          <p:cNvPr id="34" name="Text 32"/>
          <p:cNvSpPr/>
          <p:nvPr/>
        </p:nvSpPr>
        <p:spPr>
          <a:xfrm>
            <a:off x="614363" y="4254215"/>
            <a:ext cx="8101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Perbaikan didapat dari paginasi server-side, cache agregat, dan sort dua-fase — bukan tambah hardware.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04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Ditekan Bertingkat, Hasilnya Konsisten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32197" y="1046113"/>
            <a:ext cx="4071938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1221135"/>
            <a:ext cx="357188" cy="357188"/>
          </a:xfrm>
          <a:prstGeom prst="roundRect">
            <a:avLst>
              <a:gd name="adj" fmla="val 29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0620" y="1270248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8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758" dirty="0"/>
          </a:p>
        </p:txBody>
      </p:sp>
      <p:sp>
        <p:nvSpPr>
          <p:cNvPr id="7" name="Text 5"/>
          <p:cNvSpPr/>
          <p:nvPr/>
        </p:nvSpPr>
        <p:spPr>
          <a:xfrm>
            <a:off x="621506" y="1685479"/>
            <a:ext cx="3693319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Uji beban bertingkat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621506" y="1902582"/>
            <a:ext cx="3693319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hingga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pengguna serentak mencampur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endpoint termasuk halaman berat: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error, p95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817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ms –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2,8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dtk.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39866" y="1046113"/>
            <a:ext cx="4071938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9175" y="1221135"/>
            <a:ext cx="357188" cy="357188"/>
          </a:xfrm>
          <a:prstGeom prst="roundRect">
            <a:avLst>
              <a:gd name="adj" fmla="val 29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8288" y="1270248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8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758" dirty="0"/>
          </a:p>
        </p:txBody>
      </p:sp>
      <p:sp>
        <p:nvSpPr>
          <p:cNvPr id="12" name="Text 10"/>
          <p:cNvSpPr/>
          <p:nvPr/>
        </p:nvSpPr>
        <p:spPr>
          <a:xfrm>
            <a:off x="4829175" y="1685479"/>
            <a:ext cx="3693319" cy="18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Benchmark </a:t>
            </a:r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tenant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4829175" y="1909725"/>
            <a:ext cx="3693319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schema ×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karyawan =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25.000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karyawan,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2,5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juta baris, database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GB: query tenant p50 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4 ms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2197" y="2667967"/>
            <a:ext cx="4071938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2842989"/>
            <a:ext cx="357188" cy="357188"/>
          </a:xfrm>
          <a:prstGeom prst="roundRect">
            <a:avLst>
              <a:gd name="adj" fmla="val 29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0620" y="2892103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8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1758" dirty="0"/>
          </a:p>
        </p:txBody>
      </p:sp>
      <p:sp>
        <p:nvSpPr>
          <p:cNvPr id="17" name="Text 15"/>
          <p:cNvSpPr/>
          <p:nvPr/>
        </p:nvSpPr>
        <p:spPr>
          <a:xfrm>
            <a:off x="621506" y="3307333"/>
            <a:ext cx="3693319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Pemulihan otomatis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21506" y="3524436"/>
            <a:ext cx="3693319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Watchdog memantau proses dan pulih dalam hitungan detik; jam kerja tak menunggu intervensi manual.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39866" y="2667967"/>
            <a:ext cx="4071938" cy="1486123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842989"/>
            <a:ext cx="357188" cy="357188"/>
          </a:xfrm>
          <a:prstGeom prst="roundRect">
            <a:avLst>
              <a:gd name="adj" fmla="val 29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8288" y="2892103"/>
            <a:ext cx="258961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8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758" dirty="0"/>
          </a:p>
        </p:txBody>
      </p:sp>
      <p:sp>
        <p:nvSpPr>
          <p:cNvPr id="22" name="Text 20"/>
          <p:cNvSpPr/>
          <p:nvPr/>
        </p:nvSpPr>
        <p:spPr>
          <a:xfrm>
            <a:off x="4829175" y="3307333"/>
            <a:ext cx="3693319" cy="18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offline PWA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4829175" y="3524436"/>
            <a:ext cx="3693319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Aplikasi terpasang seperti aplikasi native, halaman inti tetap terbuka saat koneksi putus.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2197" y="4332684"/>
            <a:ext cx="8279606" cy="435769"/>
          </a:xfrm>
          <a:prstGeom prst="roundRect">
            <a:avLst>
              <a:gd name="adj" fmla="val 26229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7219" y="447555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477" dirty="0"/>
          </a:p>
        </p:txBody>
      </p:sp>
      <p:sp>
        <p:nvSpPr>
          <p:cNvPr id="26" name="Text 24"/>
          <p:cNvSpPr/>
          <p:nvPr/>
        </p:nvSpPr>
        <p:spPr>
          <a:xfrm>
            <a:off x="850106" y="4475559"/>
            <a:ext cx="76866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Koneksi database puncak saat uji: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dari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persediaan ruang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masih tersisa.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89359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Detail yang Membedakan dari Sistem Sejenis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32197" y="1057945"/>
            <a:ext cx="2659819" cy="1765957"/>
          </a:xfrm>
          <a:prstGeom prst="roundRect">
            <a:avLst>
              <a:gd name="adj" fmla="val 755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7219" y="1218679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438" y="12618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7" name="Text 5"/>
          <p:cNvSpPr/>
          <p:nvPr/>
        </p:nvSpPr>
        <p:spPr>
          <a:xfrm>
            <a:off x="607219" y="1640160"/>
            <a:ext cx="230977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Dwibahasa penuh ID/EN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07219" y="1872332"/>
            <a:ext cx="2309775" cy="35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otomatis </a:t>
            </a:r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149</a:t>
            </a:r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string nyasar → </a:t>
            </a:r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bahasa berganti tanpa reload.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45607" y="1061517"/>
            <a:ext cx="2652675" cy="1758814"/>
          </a:xfrm>
          <a:prstGeom prst="roundRect">
            <a:avLst>
              <a:gd name="adj" fmla="val 7582"/>
            </a:avLst>
          </a:prstGeom>
          <a:solidFill>
            <a:srgbClr val="FFFFFF"/>
          </a:solidFill>
          <a:ln w="14288">
            <a:solidFill>
              <a:srgbClr val="059669"/>
            </a:solidFill>
            <a:prstDash val="solid"/>
          </a:ln>
          <a:effectLst>
            <a:outerShdw sx="100000" sy="100000" kx="0" ky="0" algn="bl" rotWithShape="0" blurRad="419100" dist="171450" dir="5400000">
              <a:srgbClr val="059669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4200" y="1225823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67420" y="126904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5431679" y="1215322"/>
            <a:ext cx="299086" cy="196025"/>
          </a:xfrm>
          <a:prstGeom prst="roundRect">
            <a:avLst>
              <a:gd name="adj" fmla="val 4854215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42756" y="1225823"/>
            <a:ext cx="2769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4200" y="1647304"/>
            <a:ext cx="229548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Asisten AI internal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3424200" y="1879476"/>
            <a:ext cx="2295488" cy="35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Tanya data HR dalam bahasa manusia, jawaban ter-scope izin pengguna.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51872" y="1057945"/>
            <a:ext cx="2659931" cy="1765957"/>
          </a:xfrm>
          <a:prstGeom prst="roundRect">
            <a:avLst>
              <a:gd name="adj" fmla="val 755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6894" y="1218679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70114" y="12618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6226894" y="1640160"/>
            <a:ext cx="230988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eSign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6226894" y="1872332"/>
            <a:ext cx="2309887" cy="35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Tanda tangan elektronik terikat identitas + dokumen, jejak audit lengkap.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2197" y="2973921"/>
            <a:ext cx="2659819" cy="1765957"/>
          </a:xfrm>
          <a:prstGeom prst="roundRect">
            <a:avLst>
              <a:gd name="adj" fmla="val 755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7219" y="3134655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438" y="317787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607219" y="3556136"/>
            <a:ext cx="230977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PWA + offline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607219" y="3788308"/>
            <a:ext cx="2309775" cy="35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Pasang di HP tanpa app store, data inti tetap buka tanpa jaringan.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42035" y="2973921"/>
            <a:ext cx="2659819" cy="1765957"/>
          </a:xfrm>
          <a:prstGeom prst="roundRect">
            <a:avLst>
              <a:gd name="adj" fmla="val 755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17057" y="3134655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60276" y="317787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3417057" y="3556136"/>
            <a:ext cx="230977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Kios presensi QR</a:t>
            </a:r>
            <a:endParaRPr lang="en-US" sz="956" dirty="0"/>
          </a:p>
        </p:txBody>
      </p:sp>
      <p:sp>
        <p:nvSpPr>
          <p:cNvPr id="30" name="Text 28"/>
          <p:cNvSpPr/>
          <p:nvPr/>
        </p:nvSpPr>
        <p:spPr>
          <a:xfrm>
            <a:off x="3417057" y="3788308"/>
            <a:ext cx="2309775" cy="35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QR unik per tenant per periode, tak bisa dipakai tenant lain.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51872" y="2973921"/>
            <a:ext cx="2659931" cy="1765957"/>
          </a:xfrm>
          <a:prstGeom prst="roundRect">
            <a:avLst>
              <a:gd name="adj" fmla="val 755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26894" y="3134655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70114" y="317787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6226894" y="3556136"/>
            <a:ext cx="230988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key ber-scope</a:t>
            </a:r>
            <a:endParaRPr lang="en-US" sz="956" dirty="0"/>
          </a:p>
        </p:txBody>
      </p:sp>
      <p:sp>
        <p:nvSpPr>
          <p:cNvPr id="35" name="Text 33"/>
          <p:cNvSpPr/>
          <p:nvPr/>
        </p:nvSpPr>
        <p:spPr>
          <a:xfrm>
            <a:off x="6226894" y="3788308"/>
            <a:ext cx="2309887" cy="35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Kunci integrasi per izin, pencabutan berlaku seketika (</a:t>
            </a:r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401</a:t>
            </a:r>
            <a:pPr algn="l" indent="0" marL="0">
              <a:lnSpc>
                <a:spcPts val="1276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langsung).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Sudah Berjalan, Siap Naik Kelas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32197" y="1029370"/>
            <a:ext cx="4064794" cy="2906837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119010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4726" y="123332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7" name="Text 5"/>
          <p:cNvSpPr/>
          <p:nvPr/>
        </p:nvSpPr>
        <p:spPr>
          <a:xfrm>
            <a:off x="1050131" y="1256184"/>
            <a:ext cx="325755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 HARI INI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21506" y="17766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864394" y="1767743"/>
            <a:ext cx="344328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Proses diawasi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PM2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restart otomatis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621506" y="2124038"/>
            <a:ext cx="36861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506" y="23284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864394" y="2319486"/>
            <a:ext cx="344328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PostgreSQL dedicated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 server terpisah dari aplikasi</a:t>
            </a:r>
            <a:endParaRPr lang="en-US" sz="844" dirty="0"/>
          </a:p>
        </p:txBody>
      </p:sp>
      <p:sp>
        <p:nvSpPr>
          <p:cNvPr id="13" name="Shape 11"/>
          <p:cNvSpPr/>
          <p:nvPr/>
        </p:nvSpPr>
        <p:spPr>
          <a:xfrm>
            <a:off x="621506" y="2675781"/>
            <a:ext cx="36861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06" y="28801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864394" y="2871229"/>
            <a:ext cx="344328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 check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endpoint diawasi</a:t>
            </a:r>
            <a:endParaRPr lang="en-US" sz="844" dirty="0"/>
          </a:p>
        </p:txBody>
      </p:sp>
      <p:sp>
        <p:nvSpPr>
          <p:cNvPr id="16" name="Shape 14"/>
          <p:cNvSpPr/>
          <p:nvPr/>
        </p:nvSpPr>
        <p:spPr>
          <a:xfrm>
            <a:off x="621506" y="3227524"/>
            <a:ext cx="36861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506" y="34319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864394" y="3422972"/>
            <a:ext cx="344328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Migrasi idempoten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boot ulang aman tanpa intervensi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4647009" y="1029370"/>
            <a:ext cx="4064794" cy="2906837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6319" y="1190104"/>
            <a:ext cx="314325" cy="314325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9538" y="123332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5264944" y="1256184"/>
            <a:ext cx="325755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REKOMENDASI SIZING 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29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434"/>
              </a:lnSpc>
              <a:buNone/>
            </a:pPr>
            <a:r>
              <a:rPr lang="en-US" sz="956" b="1" spc="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TENANT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4839891" y="1622301"/>
            <a:ext cx="1793081" cy="906363"/>
          </a:xfrm>
          <a:prstGeom prst="roundRect">
            <a:avLst>
              <a:gd name="adj" fmla="val 10509"/>
            </a:avLst>
          </a:prstGeom>
          <a:solidFill>
            <a:srgbClr val="F7F9FB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81141" y="1845097"/>
            <a:ext cx="909542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vCPU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644232" y="2187997"/>
            <a:ext cx="2950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25841" y="1622301"/>
            <a:ext cx="1793081" cy="906363"/>
          </a:xfrm>
          <a:prstGeom prst="roundRect">
            <a:avLst>
              <a:gd name="adj" fmla="val 10509"/>
            </a:avLst>
          </a:prstGeom>
          <a:solidFill>
            <a:srgbClr val="F7F9FB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26250" y="1845097"/>
            <a:ext cx="935597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GB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7530182" y="2187997"/>
            <a:ext cx="2950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39891" y="2621533"/>
            <a:ext cx="1793081" cy="906475"/>
          </a:xfrm>
          <a:prstGeom prst="roundRect">
            <a:avLst>
              <a:gd name="adj" fmla="val 10508"/>
            </a:avLst>
          </a:prstGeom>
          <a:solidFill>
            <a:srgbClr val="F7F9FB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81141" y="2844329"/>
            <a:ext cx="909542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 GB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5490530" y="3187229"/>
            <a:ext cx="6978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NVMe SSD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5841" y="2621533"/>
            <a:ext cx="1793081" cy="906475"/>
          </a:xfrm>
          <a:prstGeom prst="roundRect">
            <a:avLst>
              <a:gd name="adj" fmla="val 10508"/>
            </a:avLst>
          </a:prstGeom>
          <a:solidFill>
            <a:srgbClr val="F7F9FB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96134" y="2844329"/>
            <a:ext cx="1634884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100–200 Mbps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7345784" y="3187229"/>
            <a:ext cx="7851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DEDICATED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36319" y="3631592"/>
            <a:ext cx="3686175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Untuk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tenant aktif dengan 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20.000+</a:t>
            </a:r>
            <a:pPr algn="l" indent="0" marL="0">
              <a:lnSpc>
                <a:spcPts val="1133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karyawan total, dengan margin puncak.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432197" y="4086225"/>
            <a:ext cx="8279606" cy="667941"/>
          </a:xfrm>
          <a:prstGeom prst="roundRect">
            <a:avLst>
              <a:gd name="adj" fmla="val 19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382702" y="4196953"/>
            <a:ext cx="858822" cy="279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±22 KB</a:t>
            </a:r>
            <a:endParaRPr lang="en-US" sz="1463" dirty="0"/>
          </a:p>
        </p:txBody>
      </p:sp>
      <p:sp>
        <p:nvSpPr>
          <p:cNvPr id="38" name="Text 36"/>
          <p:cNvSpPr/>
          <p:nvPr/>
        </p:nvSpPr>
        <p:spPr>
          <a:xfrm>
            <a:off x="953374" y="4504134"/>
            <a:ext cx="17173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pertumbuhan data per karyawan/bulan</a:t>
            </a:r>
            <a:endParaRPr lang="en-US" sz="731" dirty="0"/>
          </a:p>
        </p:txBody>
      </p:sp>
      <p:sp>
        <p:nvSpPr>
          <p:cNvPr id="39" name="Shape 37"/>
          <p:cNvSpPr/>
          <p:nvPr/>
        </p:nvSpPr>
        <p:spPr>
          <a:xfrm>
            <a:off x="3192028" y="4089797"/>
            <a:ext cx="0" cy="66079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1071" y="4196953"/>
            <a:ext cx="1441636" cy="279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±6 GB/tahun</a:t>
            </a:r>
            <a:endParaRPr lang="en-US" sz="1463" dirty="0"/>
          </a:p>
        </p:txBody>
      </p:sp>
      <p:sp>
        <p:nvSpPr>
          <p:cNvPr id="41" name="Text 39"/>
          <p:cNvSpPr/>
          <p:nvPr/>
        </p:nvSpPr>
        <p:spPr>
          <a:xfrm>
            <a:off x="4131670" y="4504134"/>
            <a:ext cx="880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di </a:t>
            </a:r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tenant</a:t>
            </a:r>
            <a:endParaRPr lang="en-US" sz="731" dirty="0"/>
          </a:p>
        </p:txBody>
      </p:sp>
      <p:sp>
        <p:nvSpPr>
          <p:cNvPr id="42" name="Shape 40"/>
          <p:cNvSpPr/>
          <p:nvPr/>
        </p:nvSpPr>
        <p:spPr>
          <a:xfrm>
            <a:off x="5951860" y="4089797"/>
            <a:ext cx="0" cy="66079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2365" y="4196953"/>
            <a:ext cx="858822" cy="2797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78–95%</a:t>
            </a:r>
            <a:endParaRPr lang="en-US" sz="1463" dirty="0"/>
          </a:p>
        </p:txBody>
      </p:sp>
      <p:sp>
        <p:nvSpPr>
          <p:cNvPr id="44" name="Text 42"/>
          <p:cNvSpPr/>
          <p:nvPr/>
        </p:nvSpPr>
        <p:spPr>
          <a:xfrm>
            <a:off x="6755370" y="4504134"/>
            <a:ext cx="115281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hemat bandwidth via gzip</a:t>
            </a:r>
            <a:endParaRPr lang="en-US" sz="73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POKOK BAHASAN 05 · ARAH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Tiga Anak Tangga Skala Berikutnya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1754460" y="1275829"/>
            <a:ext cx="5635079" cy="14288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59682" y="1090092"/>
            <a:ext cx="385763" cy="385763"/>
          </a:xfrm>
          <a:prstGeom prst="roundRect">
            <a:avLst>
              <a:gd name="adj" fmla="val 24688857"/>
            </a:avLst>
          </a:prstGeom>
          <a:solidFill>
            <a:srgbClr val="FFFFFF"/>
          </a:solidFill>
          <a:ln w="14288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50800" dir="16200000">
              <a:srgbClr val="059669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0745" y="1181174"/>
            <a:ext cx="267556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1745419" y="1482998"/>
            <a:ext cx="14288" cy="114300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79007" y="1090092"/>
            <a:ext cx="385763" cy="385763"/>
          </a:xfrm>
          <a:prstGeom prst="roundRect">
            <a:avLst>
              <a:gd name="adj" fmla="val 24688857"/>
            </a:avLst>
          </a:prstGeom>
          <a:solidFill>
            <a:srgbClr val="FFFFFF"/>
          </a:solidFill>
          <a:ln w="14288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50800" dir="16200000">
              <a:srgbClr val="059669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90070" y="1181174"/>
            <a:ext cx="267556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4564745" y="1482998"/>
            <a:ext cx="14288" cy="114300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98444" y="1090092"/>
            <a:ext cx="385763" cy="385763"/>
          </a:xfrm>
          <a:prstGeom prst="roundRect">
            <a:avLst>
              <a:gd name="adj" fmla="val 24688857"/>
            </a:avLst>
          </a:prstGeom>
          <a:solidFill>
            <a:srgbClr val="FFFFFF"/>
          </a:solidFill>
          <a:ln w="14288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50800" dir="16200000">
              <a:srgbClr val="059669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09507" y="1181174"/>
            <a:ext cx="267556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7384182" y="1482998"/>
            <a:ext cx="14288" cy="114300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2197" y="1600870"/>
            <a:ext cx="2640732" cy="2653233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15658" y="3821906"/>
            <a:ext cx="75127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059669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263" dirty="0"/>
          </a:p>
        </p:txBody>
      </p:sp>
      <p:sp>
        <p:nvSpPr>
          <p:cNvPr id="16" name="Text 14"/>
          <p:cNvSpPr/>
          <p:nvPr/>
        </p:nvSpPr>
        <p:spPr>
          <a:xfrm>
            <a:off x="570071" y="1736815"/>
            <a:ext cx="622131" cy="196025"/>
          </a:xfrm>
          <a:prstGeom prst="roundRect">
            <a:avLst>
              <a:gd name="adj" fmla="val 4854215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2931" y="1747317"/>
            <a:ext cx="5764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2931" y="2022351"/>
            <a:ext cx="231926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Kapasitas koneksi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592931" y="2283098"/>
            <a:ext cx="2319263" cy="33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PgBouncer transaction pooling + penandaan search_path per transaksi:</a:t>
            </a:r>
            <a:endParaRPr lang="en-US" sz="816" dirty="0"/>
          </a:p>
        </p:txBody>
      </p:sp>
      <p:sp>
        <p:nvSpPr>
          <p:cNvPr id="20" name="Text 18"/>
          <p:cNvSpPr/>
          <p:nvPr/>
        </p:nvSpPr>
        <p:spPr>
          <a:xfrm>
            <a:off x="592931" y="2646983"/>
            <a:ext cx="231926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melipatgandakan tenant aktif per node tanpa tambah server.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51522" y="1600870"/>
            <a:ext cx="2640843" cy="2653233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35095" y="3821906"/>
            <a:ext cx="75127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059669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263" dirty="0"/>
          </a:p>
        </p:txBody>
      </p:sp>
      <p:sp>
        <p:nvSpPr>
          <p:cNvPr id="23" name="Text 21"/>
          <p:cNvSpPr/>
          <p:nvPr/>
        </p:nvSpPr>
        <p:spPr>
          <a:xfrm>
            <a:off x="3389397" y="1736815"/>
            <a:ext cx="622131" cy="196025"/>
          </a:xfrm>
          <a:prstGeom prst="roundRect">
            <a:avLst>
              <a:gd name="adj" fmla="val 4854215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12257" y="1747317"/>
            <a:ext cx="5764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12257" y="2022351"/>
            <a:ext cx="231937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Sharding lintas node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3412257" y="2283098"/>
            <a:ext cx="2319375" cy="496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Registry mengarahkan tenant ke node database berbeda saat pertumbuhan melewati satu mesin: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3412257" y="2807494"/>
            <a:ext cx="2429103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tambah node, bukan ganti sistem.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70960" y="1600870"/>
            <a:ext cx="2640732" cy="2653233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54421" y="3821906"/>
            <a:ext cx="75127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059669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263" dirty="0"/>
          </a:p>
        </p:txBody>
      </p:sp>
      <p:sp>
        <p:nvSpPr>
          <p:cNvPr id="30" name="Text 28"/>
          <p:cNvSpPr/>
          <p:nvPr/>
        </p:nvSpPr>
        <p:spPr>
          <a:xfrm>
            <a:off x="6208834" y="1736815"/>
            <a:ext cx="622131" cy="196025"/>
          </a:xfrm>
          <a:prstGeom prst="roundRect">
            <a:avLst>
              <a:gd name="adj" fmla="val 4854215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31694" y="1747317"/>
            <a:ext cx="5764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03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31694" y="2022351"/>
            <a:ext cx="2428991" cy="21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laporan historis</a:t>
            </a:r>
            <a:endParaRPr lang="en-US" sz="1069" dirty="0"/>
          </a:p>
        </p:txBody>
      </p:sp>
      <p:sp>
        <p:nvSpPr>
          <p:cNvPr id="33" name="Text 31"/>
          <p:cNvSpPr/>
          <p:nvPr/>
        </p:nvSpPr>
        <p:spPr>
          <a:xfrm>
            <a:off x="6231694" y="2283098"/>
            <a:ext cx="2319263" cy="33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Materialized view rekap presensi + dasbor metrik:</a:t>
            </a:r>
            <a:endParaRPr lang="en-US" sz="816" dirty="0"/>
          </a:p>
        </p:txBody>
      </p:sp>
      <p:sp>
        <p:nvSpPr>
          <p:cNvPr id="34" name="Text 32"/>
          <p:cNvSpPr/>
          <p:nvPr/>
        </p:nvSpPr>
        <p:spPr>
          <a:xfrm>
            <a:off x="6231694" y="2646983"/>
            <a:ext cx="2319263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788" dirty="0">
                <a:solidFill>
                  <a:srgbClr val="5B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query historis kembali instan di tenant sangat besar.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432197" y="4404122"/>
            <a:ext cx="8279606" cy="350044"/>
          </a:xfrm>
          <a:prstGeom prst="roundRect">
            <a:avLst>
              <a:gd name="adj" fmla="val 32653"/>
            </a:avLst>
          </a:prstGeom>
          <a:solidFill>
            <a:srgbClr val="ECFDF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2931" y="45005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7" name="Text 35"/>
          <p:cNvSpPr/>
          <p:nvPr/>
        </p:nvSpPr>
        <p:spPr>
          <a:xfrm>
            <a:off x="835819" y="4504134"/>
            <a:ext cx="771525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Batas terukur arsitektur saat ini: </a:t>
            </a:r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±140</a:t>
            </a:r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tenant aktif serentak per node — setiap fase menaikkan kapasitas tanpa mengubah kode aplikasi domain.</a:t>
            </a:r>
            <a:endParaRPr lang="en-US" sz="7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438" y="2071688"/>
            <a:ext cx="4714875" cy="4714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38" y="2071688"/>
            <a:ext cx="4714875" cy="4714875"/>
          </a:xfrm>
          <a:prstGeom prst="roundRect">
            <a:avLst>
              <a:gd name="adj" fmla="val 20200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125" y="-1071562"/>
            <a:ext cx="2428875" cy="2428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1000125" y="-1071562"/>
            <a:ext cx="2428875" cy="2428875"/>
          </a:xfrm>
          <a:prstGeom prst="roundRect">
            <a:avLst>
              <a:gd name="adj" fmla="val 3921176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14350" y="1366689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PENUTUP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14350" y="1613148"/>
            <a:ext cx="6900863" cy="48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4"/>
              </a:lnSpc>
              <a:buNone/>
            </a:pPr>
            <a:r>
              <a:rPr lang="en-US" sz="3263" b="1" spc="-65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Dibangun untuk </a:t>
            </a:r>
            <a:pPr algn="l" indent="0" marL="0">
              <a:lnSpc>
                <a:spcPts val="3524"/>
              </a:lnSpc>
              <a:buNone/>
            </a:pPr>
            <a:r>
              <a:rPr lang="en-US" sz="3263" b="1" spc="-65" kern="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Tumbuh.</a:t>
            </a:r>
            <a:endParaRPr lang="en-US" sz="3263" dirty="0"/>
          </a:p>
        </p:txBody>
      </p:sp>
      <p:sp>
        <p:nvSpPr>
          <p:cNvPr id="8" name="Text 4"/>
          <p:cNvSpPr/>
          <p:nvPr/>
        </p:nvSpPr>
        <p:spPr>
          <a:xfrm>
            <a:off x="514350" y="2217688"/>
            <a:ext cx="6572250" cy="22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angka dalam dokumen ini berasal dari pengujian nyata pada sistem yang sedang berjalan.</a:t>
            </a:r>
            <a:endParaRPr lang="en-US" sz="984" dirty="0"/>
          </a:p>
        </p:txBody>
      </p:sp>
      <p:sp>
        <p:nvSpPr>
          <p:cNvPr id="9" name="Text 5"/>
          <p:cNvSpPr/>
          <p:nvPr/>
        </p:nvSpPr>
        <p:spPr>
          <a:xfrm>
            <a:off x="514350" y="2466826"/>
            <a:ext cx="6572250" cy="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984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Metodologi dan hasil lengkapnya tersedia — dan bisa dijalankan ulang kapan pun untuk diverifikasi.</a:t>
            </a:r>
            <a:endParaRPr lang="en-US" sz="984" dirty="0"/>
          </a:p>
        </p:txBody>
      </p:sp>
      <p:sp>
        <p:nvSpPr>
          <p:cNvPr id="10" name="Text 6"/>
          <p:cNvSpPr/>
          <p:nvPr/>
        </p:nvSpPr>
        <p:spPr>
          <a:xfrm>
            <a:off x="517922" y="2919561"/>
            <a:ext cx="5564981" cy="450056"/>
          </a:xfrm>
          <a:prstGeom prst="roundRect">
            <a:avLst>
              <a:gd name="adj" fmla="val 29630"/>
            </a:avLst>
          </a:prstGeom>
          <a:solidFill>
            <a:srgbClr val="34D399">
              <a:alpha val="10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78656" y="305172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828" dirty="0"/>
          </a:p>
        </p:txBody>
      </p:sp>
      <p:sp>
        <p:nvSpPr>
          <p:cNvPr id="12" name="Text 8"/>
          <p:cNvSpPr/>
          <p:nvPr/>
        </p:nvSpPr>
        <p:spPr>
          <a:xfrm>
            <a:off x="978694" y="3053283"/>
            <a:ext cx="4943475" cy="18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92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Mari jadwalkan sesi audit teknis langsung — kami buka arsitektur, kode, dan hasil ujinya.</a:t>
            </a:r>
            <a:endParaRPr lang="en-US" sz="928" dirty="0"/>
          </a:p>
        </p:txBody>
      </p:sp>
      <p:sp>
        <p:nvSpPr>
          <p:cNvPr id="13" name="Shape 9"/>
          <p:cNvSpPr/>
          <p:nvPr/>
        </p:nvSpPr>
        <p:spPr>
          <a:xfrm>
            <a:off x="514350" y="4286250"/>
            <a:ext cx="8115300" cy="0"/>
          </a:xfrm>
          <a:prstGeom prst="line">
            <a:avLst/>
          </a:prstGeom>
          <a:noFill/>
          <a:ln w="7144">
            <a:solidFill>
              <a:srgbClr val="1E293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432697"/>
            <a:ext cx="2848342" cy="2404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b="1" spc="-12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Rekan</a:t>
            </a:r>
            <a:pPr algn="l" indent="0" marL="0">
              <a:lnSpc>
                <a:spcPts val="1772"/>
              </a:lnSpc>
              <a:buNone/>
            </a:pPr>
            <a:r>
              <a:rPr lang="en-US" sz="1181" b="1" spc="-12" kern="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772"/>
              </a:lnSpc>
              <a:buNone/>
            </a:pPr>
            <a:r>
              <a:rPr lang="en-US" sz="1181" b="1" spc="-12" kern="0" dirty="0">
                <a:solidFill>
                  <a:srgbClr val="F8FA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Kerja</a:t>
            </a:r>
            <a:endParaRPr lang="en-US" sz="1181" dirty="0"/>
          </a:p>
        </p:txBody>
      </p:sp>
      <p:sp>
        <p:nvSpPr>
          <p:cNvPr id="15" name="Text 11"/>
          <p:cNvSpPr/>
          <p:nvPr/>
        </p:nvSpPr>
        <p:spPr>
          <a:xfrm>
            <a:off x="514350" y="4700588"/>
            <a:ext cx="24303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Dokumen teknis internal · pendamping deck produk RekanKerja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6838913" y="4663083"/>
            <a:ext cx="189818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Terima kasih — mari kita diskusikan.</a:t>
            </a:r>
            <a:endParaRPr lang="en-US" sz="87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2026-10-26T23:12:50Z</dcterms:created>
  <dcterms:modified xsi:type="dcterms:W3CDTF">2026-10-26T23:12:50Z</dcterms:modified>
</cp:coreProperties>
</file>